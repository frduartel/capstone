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 10 s) Presentamos SignIA, nuestro proyecto de título. En esta presentación mostramos la documentación más importante, lo que ajustamos desde la primera presentación y, al final, la aplicación funcionando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 30 s) A diferencia de los diccionarios y cursos de LSCh, que solo enseñan, SignIA traduce en el momento.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 40 s) El SVC ya funcionaba en el prototipo, pesa poco y predice en milisegundos en CPU, por eso lo mantuvimos en vez de Keras. La cámara en el servidor no sirve en la nube, por eso migramos a la cámara del navegador. MotherDuck resuelve que el disco del plan gratuito es efímero.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 35 s) Dos artefactos clave de la pauta del docente. El Impact Map conecta el objetivo (que una persona sorda se comunique con una oyente sin intérprete) con los actores y las historias de usuario. El roadmap ordena esas historias en 8 sprints: hitos en las semanas 2, 4, 8, 14 y 15. El resto (mapa mental, mapa de actores, User Story Map, backlog de 8 épicas y 26 historias, sprint backlogs, dailies, retros e impedimentos) está en el documento de Fase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 30 s) La arquitectura es un documento transversal que se actualiza en cada sprint. El diagrama muestra la v1.2; en la v1.3 (Sprint 6, HU-26) DuckDB + Parquet local se reemplaza por MotherDuck, así los usuarios y predicciones no se pierden cuando la nube reinicia. Sin token de MotherDuck, la app sigue funcionando con Parquet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 25 s) Un usuario abre muchas sesiones y genera muchas predicciones. Las predicciones alimentan las estadísticas del panel admin. Pasamos de Parquet local a MotherDuck porque el disco del plan gratuito de la nube se borra en cada reinicio.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 30 s) Cada mano aporta 21 puntos con coordenadas x, y, z: 126 características con dos manos. El administrador puede grabar señas nuevas, entrenar y activar un modelo desde la página Entrenar Modelo, con respaldo del anterior. Las señas con movimiento, como “¿cómo estás?”, requieren un modelo de secuencias de aproximadamente 1 segundo (HU-24).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 20 s) Responde a HU-16, HU-17 y HU-18. El color principal es frío para no competir con los tonos de piel de las manos. El cobre se usa solo para la voz y la frase, así la persona sabe que es el resultado de la traducción. Todo estado de confianza se explica también con texto, para personas con daltonismo.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 25 s) Cada sprint tiene su Sprint Backlog, Scrumboard, Burndown, Dailies, Review y Retrospectiva en el documento. Los Sprints 1 y 2 se documentaron de forma retroactiva al inicio de la Fase 2; desde el Sprint 3 registramos dailies y burndown día a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 1 min 45 s) Guion de la demo: 1) Iniciar sesión como usuario. 2) Abrir el Traductor, encender la cámara del navegador y hacer señas como HOLA, BIEN y TE_QUIERO; mostrar la seña detectada con su confianza y cómo se arma la frase. 3) Presionar Escuchar para la voz. 4) Entrar como administrador y mostrar el panel, Entrenar Modelo y estadísticas. Tener a mano la guía docs/GUIA_EJECUCION_Y_DEMO.md y buena luz.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361"/>
            <a:ext cx="10566400" cy="410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361"/>
            <a:ext cx="10566400" cy="410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64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de SignIA: globo de diálogo con tres punto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708150"/>
            <a:ext cx="1016000" cy="10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297815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9FD8D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CAPSTONE APT122 · DUOC UC · FASE 2</a:t>
            </a:r>
            <a:endParaRPr lang="en-US" sz="16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351661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i="0" dirty="0">
                <a:solidFill>
                  <a:srgbClr val="FBFCF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SignIA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812800" y="4786610"/>
            <a:ext cx="8502650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E7F5F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Traductor de Lengua de Señas Chilena a texto y voz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12800" y="59995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E3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Khaeil Parga · Franco Duarte · Joaquín González · Ingeniería en Informática, sede Padre Alonso de Ovalle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646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PROBLEMA Y VISIÓN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Comunicarse sin depender de un intérprete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86161"/>
            <a:ext cx="4892294" cy="90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Las personas sordas que usan LSCh enfrentan barreras diarias en salud, educación, trámites y atención de público.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022302"/>
            <a:ext cx="4892294" cy="90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</a:t>
            </a:r>
            <a:r>
              <a:rPr lang="en-US" sz="1600" b="1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Ley 21.303 (2021)</a:t>
            </a:r>
            <a:r>
              <a:rPr lang="en-US" sz="16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reconoce la LSCh como lengua oficial, pero hay pocos intérpretes y su costo limita el acceso.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69000" y="1986161"/>
            <a:ext cx="5410200" cy="1919883"/>
          </a:xfrm>
          <a:prstGeom prst="roundRect">
            <a:avLst>
              <a:gd name="adj" fmla="val 6615"/>
            </a:avLst>
          </a:prstGeom>
          <a:solidFill>
            <a:srgbClr val="FCEFE8"/>
          </a:solidFill>
          <a:ln/>
        </p:spPr>
      </p:sp>
      <p:sp>
        <p:nvSpPr>
          <p:cNvPr id="7" name="Shape 5"/>
          <p:cNvSpPr/>
          <p:nvPr/>
        </p:nvSpPr>
        <p:spPr>
          <a:xfrm>
            <a:off x="5969000" y="1986161"/>
            <a:ext cx="5410200" cy="1919883"/>
          </a:xfrm>
          <a:custGeom>
            <a:avLst/>
            <a:gdLst/>
            <a:ahLst/>
            <a:cxnLst/>
            <a:rect l="l" t="t" r="r" b="b"/>
            <a:pathLst>
              <a:path w="5410200" h="1919883">
                <a:moveTo>
                  <a:pt x="127000" y="1919883"/>
                </a:moveTo>
                <a:lnTo>
                  <a:pt x="127000" y="1919883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lnTo>
                  <a:pt x="127000" y="0"/>
                </a:lnTo>
                <a:arcTo hR="127000" wR="76200" stAng="16200000" swAng="-5400000"/>
                <a:lnTo>
                  <a:pt x="50800" y="1792883"/>
                </a:lnTo>
                <a:arcTo hR="127000" wR="76200" stAng="10800000" swAng="-5400000"/>
                <a:close/>
              </a:path>
            </a:pathLst>
          </a:custGeom>
          <a:solidFill>
            <a:srgbClr val="C2522B"/>
          </a:solidFill>
          <a:ln/>
        </p:spPr>
      </p:sp>
      <p:sp>
        <p:nvSpPr>
          <p:cNvPr id="8" name="Text 6"/>
          <p:cNvSpPr/>
          <p:nvPr/>
        </p:nvSpPr>
        <p:spPr>
          <a:xfrm>
            <a:off x="6324600" y="2290961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343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VISIÓN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24600" y="2631281"/>
            <a:ext cx="4892294" cy="90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SignIA es una aplicación web que reconoce señas por cámara y las traduce en tiempo real a texto y voz, desde un navegador y sin instalar nada.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SignIA · Capstone APT122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646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QUÉ AJUSTAMOS DESDE LA FASE 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Todo calza ahora con el código real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8061"/>
          <a:ext cx="10553700" cy="2701727"/>
        </p:xfrm>
        <a:graphic>
          <a:graphicData uri="http://schemas.openxmlformats.org/drawingml/2006/table">
            <a:tbl>
              <a:tblPr/>
              <a:tblGrid>
                <a:gridCol w="1899666"/>
                <a:gridCol w="4010406"/>
                <a:gridCol w="4643628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84C4B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Tema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84C4B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Primera presentación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9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84C4B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Ahora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9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4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Modelo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Red neuronal Keras / TensorFlow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SVC de scikit-learn: liviano, 98,7 % de accuracy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Cámara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OpenCV en el servidor, solo Windows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Desde el navegador con streamlit-webrtc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Datos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Parquet local que se pierde en la nube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MotherDuck (DuckDB en la nube)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Seguridad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SHA-256 sin sal y admin/admin123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PBKDF2 con sal y admin desde secretos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Interfaz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Sin guía de estilo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Sistema de diseño accesible (WCAG AA)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Planificación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9 sprints, sin backlog ni métricas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8 sprints, 26 historias, riesgos y metas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SignIA · Capstone APT122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646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EVIDENCIAS ÁGILES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Del objetivo al plan de sprints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84561"/>
            <a:ext cx="5181600" cy="2921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pic>
        <p:nvPicPr>
          <p:cNvPr id="5" name="Image 0" descr="Impact Map: objetivo, actores (persona sorda, persona oyente, administrador, equipo), impactos y entreg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778" y="1897261"/>
            <a:ext cx="4801645" cy="2895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9150" y="1890911"/>
            <a:ext cx="5168900" cy="2908300"/>
          </a:xfrm>
          <a:prstGeom prst="roundRect">
            <a:avLst>
              <a:gd name="adj" fmla="val 4148"/>
            </a:avLst>
          </a:prstGeom>
          <a:noFill/>
          <a:ln w="12700">
            <a:solidFill>
              <a:srgbClr val="E3E8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4907161"/>
            <a:ext cx="533704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Impact Map.</a:t>
            </a:r>
            <a:r>
              <a:rPr lang="en-US" sz="13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Cada actor, su cambio esperado y las historias que lo logran.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97600" y="1884561"/>
            <a:ext cx="5181600" cy="2921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pic>
        <p:nvPicPr>
          <p:cNvPr id="9" name="Image 1" descr="Roadmap de 8 sprints en 15 semanas con fases e hi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2336165"/>
            <a:ext cx="5156200" cy="20177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03950" y="1890911"/>
            <a:ext cx="5168900" cy="2908300"/>
          </a:xfrm>
          <a:prstGeom prst="roundRect">
            <a:avLst>
              <a:gd name="adj" fmla="val 4148"/>
            </a:avLst>
          </a:prstGeom>
          <a:noFill/>
          <a:ln w="12700">
            <a:solidFill>
              <a:srgbClr val="E3E8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197600" y="4907161"/>
            <a:ext cx="533704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Roadmap.</a:t>
            </a:r>
            <a:r>
              <a:rPr lang="en-US" sz="13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8 sprints en 15 semanas, con 5 hitos de entrega.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SignIA · Capstone APT122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646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Del prototipo local a la nube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84561"/>
            <a:ext cx="6985000" cy="3556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5" name="Image 0" descr="Arquitectura v1.2: navegador con cámara y streamlit-webrtc envía fotogramas a Streamlit Community Cloud, donde recognizer.py con MediaPipe y SVC traduce, gTTS genera la voz y el panel admin entrena modelos">    </p:cNvPr>
          <p:cNvPicPr>
            <a:picLocks noChangeAspect="1"/>
          </p:cNvPicPr>
          <p:nvPr/>
        </p:nvPicPr>
        <p:blipFill>
          <a:blip r:embed="rId1"/>
          <a:srcRect l="0" r="0" t="-320" b="-320"/>
          <a:stretch/>
        </p:blipFill>
        <p:spPr>
          <a:xfrm>
            <a:off x="825500" y="1897261"/>
            <a:ext cx="6959600" cy="3530600"/>
          </a:xfrm>
          <a:prstGeom prst="roundRect">
            <a:avLst>
              <a:gd name="adj" fmla="val 3237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9150" y="1890911"/>
            <a:ext cx="6972300" cy="3543300"/>
          </a:xfrm>
          <a:prstGeom prst="roundRect">
            <a:avLst>
              <a:gd name="adj" fmla="val 3405"/>
            </a:avLst>
          </a:prstGeom>
          <a:noFill/>
          <a:ln w="12700">
            <a:solidFill>
              <a:srgbClr val="E3E8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02600" y="1884561"/>
            <a:ext cx="3374898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v1.0</a:t>
            </a:r>
            <a:r>
              <a:rPr lang="en-US" sz="13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Prototipo local, cámara en el servidor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02600" y="2234406"/>
            <a:ext cx="3374898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v1.1</a:t>
            </a:r>
            <a:r>
              <a:rPr lang="en-US" sz="13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Cámara del navegador y contraseñas PBKDF2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02600" y="2807097"/>
            <a:ext cx="3374898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v1.2</a:t>
            </a:r>
            <a:r>
              <a:rPr lang="en-US" sz="13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Listo para Streamlit Cloud, entrenamiento web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02600" y="3379788"/>
            <a:ext cx="3276600" cy="648891"/>
          </a:xfrm>
          <a:prstGeom prst="roundRect">
            <a:avLst>
              <a:gd name="adj" fmla="val 11743"/>
            </a:avLst>
          </a:prstGeom>
          <a:solidFill>
            <a:srgbClr val="E7F5F4"/>
          </a:solidFill>
          <a:ln/>
        </p:spPr>
        <p:txBody>
          <a:bodyPr wrap="square" lIns="104682" tIns="79282" rIns="14004" bIns="53882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B646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v1.3</a:t>
            </a:r>
            <a:r>
              <a:rPr lang="en-US" sz="13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Datos en MotherDuck, DuckDB en la nube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SignIA · Capstone APT122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646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Tres tablas en MotherDuck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2082006"/>
            <a:ext cx="2908300" cy="1841103"/>
          </a:xfrm>
          <a:prstGeom prst="roundRect">
            <a:avLst>
              <a:gd name="adj" fmla="val 5174"/>
            </a:avLst>
          </a:prstGeom>
          <a:solidFill>
            <a:srgbClr val="FBFCFC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5500" y="2088356"/>
            <a:ext cx="2895600" cy="452041"/>
          </a:xfrm>
          <a:custGeom>
            <a:avLst/>
            <a:gdLst/>
            <a:ahLst/>
            <a:cxnLst/>
            <a:rect l="l" t="t" r="r" b="b"/>
            <a:pathLst>
              <a:path w="2895600" h="452041">
                <a:moveTo>
                  <a:pt x="0" y="88900"/>
                </a:moveTo>
                <a:arcTo hR="88900" wR="88900" stAng="10800000" swAng="5400000"/>
                <a:lnTo>
                  <a:pt x="2806700" y="0"/>
                </a:lnTo>
                <a:arcTo hR="88900" wR="88900" stAng="16200000" swAng="5400000"/>
                <a:lnTo>
                  <a:pt x="2895600" y="452041"/>
                </a:lnTo>
                <a:lnTo>
                  <a:pt x="0" y="452041"/>
                </a:lnTo>
                <a:close/>
              </a:path>
            </a:pathLst>
          </a:custGeom>
          <a:solidFill>
            <a:srgbClr val="1F2A37"/>
          </a:solidFill>
          <a:ln/>
        </p:spPr>
        <p:txBody>
          <a:bodyPr wrap="square" lIns="177800" tIns="101600" rIns="101600" bIns="762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BFCF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SESSIONS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3300" y="2667397"/>
            <a:ext cx="261620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token</a:t>
            </a:r>
            <a:r>
              <a:rPr lang="en-US" sz="13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</a:t>
            </a:r>
            <a:r>
              <a:rPr lang="en-US" sz="1300" dirty="0">
                <a:solidFill>
                  <a:srgbClr val="0B646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3300" y="2947988"/>
            <a:ext cx="261620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username </a:t>
            </a:r>
            <a:r>
              <a:rPr lang="en-US" sz="1300" dirty="0">
                <a:solidFill>
                  <a:srgbClr val="A343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3300" y="3228578"/>
            <a:ext cx="261620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expires_at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3300" y="3509169"/>
            <a:ext cx="261620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is_active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86064" y="2598738"/>
            <a:ext cx="3970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: N</a:t>
            </a:r>
            <a:endParaRPr lang="en-US" sz="1200" dirty="0"/>
          </a:p>
        </p:txBody>
      </p:sp>
      <p:pic>
        <p:nvPicPr>
          <p:cNvPr id="11" name="Image 0" descr="arrow-lef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79850" y="2862858"/>
            <a:ext cx="609600" cy="279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002018" y="3193058"/>
            <a:ext cx="3651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abre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41850" y="1941711"/>
            <a:ext cx="2908300" cy="2121694"/>
          </a:xfrm>
          <a:prstGeom prst="roundRect">
            <a:avLst>
              <a:gd name="adj" fmla="val 4489"/>
            </a:avLst>
          </a:prstGeom>
          <a:solidFill>
            <a:srgbClr val="E7F5F4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48200" y="1948061"/>
            <a:ext cx="2895600" cy="452041"/>
          </a:xfrm>
          <a:custGeom>
            <a:avLst/>
            <a:gdLst/>
            <a:ahLst/>
            <a:cxnLst/>
            <a:rect l="l" t="t" r="r" b="b"/>
            <a:pathLst>
              <a:path w="2895600" h="452041">
                <a:moveTo>
                  <a:pt x="0" y="88900"/>
                </a:moveTo>
                <a:arcTo hR="88900" wR="88900" stAng="10800000" swAng="5400000"/>
                <a:lnTo>
                  <a:pt x="2806700" y="0"/>
                </a:lnTo>
                <a:arcTo hR="88900" wR="88900" stAng="16200000" swAng="5400000"/>
                <a:lnTo>
                  <a:pt x="2895600" y="452041"/>
                </a:lnTo>
                <a:lnTo>
                  <a:pt x="0" y="452041"/>
                </a:lnTo>
                <a:close/>
              </a:path>
            </a:pathLst>
          </a:custGeom>
          <a:solidFill>
            <a:srgbClr val="0E7C7B"/>
          </a:solidFill>
          <a:ln/>
        </p:spPr>
        <p:txBody>
          <a:bodyPr wrap="square" lIns="177800" tIns="101600" rIns="101600" bIns="762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BFCF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26000" y="2527102"/>
            <a:ext cx="261620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username</a:t>
            </a:r>
            <a:r>
              <a:rPr lang="en-US" sz="13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</a:t>
            </a:r>
            <a:r>
              <a:rPr lang="en-US" sz="1300" dirty="0">
                <a:solidFill>
                  <a:srgbClr val="0B646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PK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26000" y="2807692"/>
            <a:ext cx="261620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password (PBKDF2 con sal)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26000" y="3088283"/>
            <a:ext cx="261620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email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26000" y="3368873"/>
            <a:ext cx="261620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role: user o admin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26000" y="3649464"/>
            <a:ext cx="261620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active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08764" y="2598738"/>
            <a:ext cx="3970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: N</a:t>
            </a:r>
            <a:endParaRPr lang="en-US" sz="1200" dirty="0"/>
          </a:p>
        </p:txBody>
      </p:sp>
      <p:pic>
        <p:nvPicPr>
          <p:cNvPr id="2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02550" y="2862858"/>
            <a:ext cx="609600" cy="2794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723743" y="3193058"/>
            <a:ext cx="5672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genera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464550" y="2082006"/>
            <a:ext cx="2908300" cy="1841103"/>
          </a:xfrm>
          <a:prstGeom prst="roundRect">
            <a:avLst>
              <a:gd name="adj" fmla="val 5174"/>
            </a:avLst>
          </a:prstGeom>
          <a:solidFill>
            <a:srgbClr val="FBFCFC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470900" y="2088356"/>
            <a:ext cx="2895600" cy="452041"/>
          </a:xfrm>
          <a:custGeom>
            <a:avLst/>
            <a:gdLst/>
            <a:ahLst/>
            <a:cxnLst/>
            <a:rect l="l" t="t" r="r" b="b"/>
            <a:pathLst>
              <a:path w="2895600" h="452041">
                <a:moveTo>
                  <a:pt x="0" y="88900"/>
                </a:moveTo>
                <a:arcTo hR="88900" wR="88900" stAng="10800000" swAng="5400000"/>
                <a:lnTo>
                  <a:pt x="2806700" y="0"/>
                </a:lnTo>
                <a:arcTo hR="88900" wR="88900" stAng="16200000" swAng="5400000"/>
                <a:lnTo>
                  <a:pt x="2895600" y="452041"/>
                </a:lnTo>
                <a:lnTo>
                  <a:pt x="0" y="452041"/>
                </a:lnTo>
                <a:close/>
              </a:path>
            </a:pathLst>
          </a:custGeom>
          <a:solidFill>
            <a:srgbClr val="1F2A37"/>
          </a:solidFill>
          <a:ln/>
        </p:spPr>
        <p:txBody>
          <a:bodyPr wrap="square" lIns="177800" tIns="101600" rIns="101600" bIns="762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BFCF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PREDICTIONS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8648700" y="2667397"/>
            <a:ext cx="261620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username </a:t>
            </a:r>
            <a:r>
              <a:rPr lang="en-US" sz="1300" dirty="0">
                <a:solidFill>
                  <a:srgbClr val="A343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FK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8648700" y="2947988"/>
            <a:ext cx="261620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sign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8648700" y="3228578"/>
            <a:ext cx="261620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8648700" y="3509169"/>
            <a:ext cx="261620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timestamp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812800" y="4374555"/>
            <a:ext cx="1088339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Base </a:t>
            </a:r>
            <a:r>
              <a:rPr lang="en-US" sz="1400" b="1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signia</a:t>
            </a:r>
            <a:r>
              <a:rPr lang="en-US" sz="14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en MotherDuck (DuckDB en la nube); sin token, la app usa Parquet local. El dataset de entrenamiento (126 coordenadas, seña y persona) va aparte, en CSV.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SignIA · Capstone APT122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646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MODELO DE RECONOCIMIENTO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MediaPipe + SVC: 126 puntos, 18 señas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941711"/>
            <a:ext cx="3373934" cy="1429941"/>
          </a:xfrm>
          <a:prstGeom prst="roundRect">
            <a:avLst>
              <a:gd name="adj" fmla="val 8437"/>
            </a:avLst>
          </a:prstGeom>
          <a:solidFill>
            <a:srgbClr val="FBFCFC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202061"/>
            <a:ext cx="293883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0B646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98,7 %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79500" y="2862461"/>
            <a:ext cx="293883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accuracy de prueba (75/25)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8984" y="1941711"/>
            <a:ext cx="3374033" cy="1429941"/>
          </a:xfrm>
          <a:prstGeom prst="roundRect">
            <a:avLst>
              <a:gd name="adj" fmla="val 8437"/>
            </a:avLst>
          </a:prstGeom>
          <a:solidFill>
            <a:srgbClr val="FBFCFC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9334" y="2202061"/>
            <a:ext cx="2938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0B646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0,987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669334" y="2862461"/>
            <a:ext cx="293893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F1 macro (meta ≥ 0,85)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8916" y="1941711"/>
            <a:ext cx="3373934" cy="1429941"/>
          </a:xfrm>
          <a:prstGeom prst="roundRect">
            <a:avLst>
              <a:gd name="adj" fmla="val 8437"/>
            </a:avLst>
          </a:prstGeom>
          <a:solidFill>
            <a:srgbClr val="FBFCFC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9266" y="2202061"/>
            <a:ext cx="293883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0B646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1.800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259266" y="2862461"/>
            <a:ext cx="293883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muestras, 100 por seña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3682802"/>
            <a:ext cx="510159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Comparamos algoritmos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4002782"/>
            <a:ext cx="510159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Validación cruzada de 5 particiones: SVC 0,993 · Random Forest 0,991 · k-NN 0,990. Elegimos SVC por liviano y rápido en CPU.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69000" y="3682802"/>
            <a:ext cx="5410200" cy="1154212"/>
          </a:xfrm>
          <a:prstGeom prst="roundRect">
            <a:avLst>
              <a:gd name="adj" fmla="val 8803"/>
            </a:avLst>
          </a:prstGeom>
          <a:solidFill>
            <a:srgbClr val="FDF6E7"/>
          </a:solidFill>
          <a:ln/>
        </p:spPr>
      </p:sp>
      <p:sp>
        <p:nvSpPr>
          <p:cNvPr id="16" name="Shape 14"/>
          <p:cNvSpPr/>
          <p:nvPr/>
        </p:nvSpPr>
        <p:spPr>
          <a:xfrm>
            <a:off x="5969000" y="3682802"/>
            <a:ext cx="5410200" cy="1154212"/>
          </a:xfrm>
          <a:custGeom>
            <a:avLst/>
            <a:gdLst/>
            <a:ahLst/>
            <a:cxnLst/>
            <a:rect l="l" t="t" r="r" b="b"/>
            <a:pathLst>
              <a:path w="5410200" h="1154212">
                <a:moveTo>
                  <a:pt x="101600" y="1154212"/>
                </a:moveTo>
                <a:lnTo>
                  <a:pt x="101600" y="1154212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1052612"/>
                </a:lnTo>
                <a:arcTo hR="101600" wR="50800" stAng="10800000" swAng="-5400000"/>
                <a:close/>
              </a:path>
            </a:pathLst>
          </a:custGeom>
          <a:solidFill>
            <a:srgbClr val="F2B544"/>
          </a:solidFill>
          <a:ln/>
        </p:spPr>
      </p:sp>
      <p:sp>
        <p:nvSpPr>
          <p:cNvPr id="17" name="Text 15"/>
          <p:cNvSpPr/>
          <p:nvPr/>
        </p:nvSpPr>
        <p:spPr>
          <a:xfrm>
            <a:off x="6223000" y="3860602"/>
            <a:ext cx="510159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Ojo con el 98,7 %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23000" y="4180582"/>
            <a:ext cx="510159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 mide con fotogramas de las mismas personas. La métrica real es con una persona nueva, que medimos al grabar al equipo.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SignIA · Capstone APT122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646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SISTEMA DE DISEÑO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Las manos son las protagonistas</a:t>
            </a:r>
            <a:endParaRPr lang="en-US" sz="3600" dirty="0"/>
          </a:p>
        </p:txBody>
      </p:sp>
      <p:pic>
        <p:nvPicPr>
          <p:cNvPr id="4" name="Image 0" descr="Pantalla de inicio de sesión de SignIA">    </p:cNvPr>
          <p:cNvPicPr>
            <a:picLocks noChangeAspect="1"/>
          </p:cNvPicPr>
          <p:nvPr/>
        </p:nvPicPr>
        <p:blipFill>
          <a:blip r:embed="rId1"/>
          <a:srcRect l="0" r="0" t="180" b="180"/>
          <a:stretch/>
        </p:blipFill>
        <p:spPr>
          <a:xfrm>
            <a:off x="825500" y="1897261"/>
            <a:ext cx="3359150" cy="2146300"/>
          </a:xfrm>
          <a:prstGeom prst="roundRect">
            <a:avLst>
              <a:gd name="adj" fmla="val 4142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9150" y="1890911"/>
            <a:ext cx="3371850" cy="2159000"/>
          </a:xfrm>
          <a:prstGeom prst="roundRect">
            <a:avLst>
              <a:gd name="adj" fmla="val 4412"/>
            </a:avLst>
          </a:prstGeom>
          <a:noFill/>
          <a:ln w="12700">
            <a:solidFill>
              <a:srgbClr val="E3E8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4132461"/>
            <a:ext cx="34882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Inicio de sesión</a:t>
            </a:r>
            <a:endParaRPr lang="en-US" sz="1200" dirty="0"/>
          </a:p>
        </p:txBody>
      </p:sp>
      <p:pic>
        <p:nvPicPr>
          <p:cNvPr id="7" name="Image 1" descr="Pantalla del traductor con cámara, seña detectada y frase">    </p:cNvPr>
          <p:cNvPicPr>
            <a:picLocks noChangeAspect="1"/>
          </p:cNvPicPr>
          <p:nvPr/>
        </p:nvPicPr>
        <p:blipFill>
          <a:blip r:embed="rId2"/>
          <a:srcRect l="0" r="0" t="180" b="180"/>
          <a:stretch/>
        </p:blipFill>
        <p:spPr>
          <a:xfrm>
            <a:off x="4415334" y="1897261"/>
            <a:ext cx="3359150" cy="2146300"/>
          </a:xfrm>
          <a:prstGeom prst="roundRect">
            <a:avLst>
              <a:gd name="adj" fmla="val 4142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4408984" y="1890911"/>
            <a:ext cx="3371850" cy="2159000"/>
          </a:xfrm>
          <a:prstGeom prst="roundRect">
            <a:avLst>
              <a:gd name="adj" fmla="val 4412"/>
            </a:avLst>
          </a:prstGeom>
          <a:noFill/>
          <a:ln w="12700">
            <a:solidFill>
              <a:srgbClr val="E3E8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402634" y="4132461"/>
            <a:ext cx="34883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Traductor</a:t>
            </a:r>
            <a:endParaRPr lang="en-US" sz="1200" dirty="0"/>
          </a:p>
        </p:txBody>
      </p:sp>
      <p:pic>
        <p:nvPicPr>
          <p:cNvPr id="10" name="Image 2" descr="Panel de administración con usuarios, entrenar, estadísticas, modelo y consultas SQL">    </p:cNvPr>
          <p:cNvPicPr>
            <a:picLocks noChangeAspect="1"/>
          </p:cNvPicPr>
          <p:nvPr/>
        </p:nvPicPr>
        <p:blipFill>
          <a:blip r:embed="rId3"/>
          <a:srcRect l="0" r="0" t="180" b="180"/>
          <a:stretch/>
        </p:blipFill>
        <p:spPr>
          <a:xfrm>
            <a:off x="8005266" y="1897261"/>
            <a:ext cx="3359150" cy="2146300"/>
          </a:xfrm>
          <a:prstGeom prst="roundRect">
            <a:avLst>
              <a:gd name="adj" fmla="val 4142"/>
            </a:avLst>
          </a:prstGeom>
        </p:spPr>
      </p:pic>
      <p:sp>
        <p:nvSpPr>
          <p:cNvPr id="11" name="Shape 6"/>
          <p:cNvSpPr/>
          <p:nvPr/>
        </p:nvSpPr>
        <p:spPr>
          <a:xfrm>
            <a:off x="7998916" y="1890911"/>
            <a:ext cx="3371850" cy="2159000"/>
          </a:xfrm>
          <a:prstGeom prst="roundRect">
            <a:avLst>
              <a:gd name="adj" fmla="val 4412"/>
            </a:avLst>
          </a:prstGeom>
          <a:noFill/>
          <a:ln w="12700">
            <a:solidFill>
              <a:srgbClr val="E3E8EC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992566" y="4132461"/>
            <a:ext cx="34882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Panel del administrador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12800" y="4599781"/>
            <a:ext cx="1676301" cy="38348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BFCF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Pacífico #0E7C7B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2641501" y="4599781"/>
            <a:ext cx="2079526" cy="383480"/>
          </a:xfrm>
          <a:prstGeom prst="roundRect">
            <a:avLst>
              <a:gd name="adj" fmla="val 50000"/>
            </a:avLst>
          </a:prstGeom>
          <a:solidFill>
            <a:srgbClr val="C2522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BFCF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Cobre #C2522B: la voz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73427" y="4599781"/>
            <a:ext cx="1839516" cy="383480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BFCF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Cordillera #1F2A37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865342" y="4675981"/>
            <a:ext cx="374415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Nunito · contraste WCAG AA · sin emojis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SignIA · Capstone APT122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646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AVANCE POR SPRINT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Dónde estamos hoy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7261"/>
          <a:ext cx="6718300" cy="2514898"/>
        </p:xfrm>
        <a:graphic>
          <a:graphicData uri="http://schemas.openxmlformats.org/drawingml/2006/table">
            <a:tbl>
              <a:tblPr/>
              <a:tblGrid>
                <a:gridCol w="2284222"/>
                <a:gridCol w="4434078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84C4B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Sprint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84C4B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Resultado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9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4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 Definición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Cerrado: visión, backlog e Impact Map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2 Arquitectura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Cerrado: arquitectura y modelo de datos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3 Entorno y cámara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Cámara del navegador y acceso seguro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4 Modelo IA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Entrenar desde la web y reporte de métricas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5 UX/UI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Interfaz renovada (HU-16 y HU-17)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6 Datos en la nube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MotherDuck integrado (HU-26)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48600" y="1884561"/>
            <a:ext cx="3530600" cy="176530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/>
        </p:spPr>
      </p:sp>
      <p:pic>
        <p:nvPicPr>
          <p:cNvPr id="6" name="Image 0" descr="Burndown del Sprint 3: horas restantes reales frente a la línea ideal">    </p:cNvPr>
          <p:cNvPicPr>
            <a:picLocks noChangeAspect="1"/>
          </p:cNvPicPr>
          <p:nvPr/>
        </p:nvPicPr>
        <p:blipFill>
          <a:blip r:embed="rId1"/>
          <a:srcRect l="-365" r="-365" t="0" b="0"/>
          <a:stretch/>
        </p:blipFill>
        <p:spPr>
          <a:xfrm>
            <a:off x="7861300" y="1897261"/>
            <a:ext cx="3505200" cy="1739900"/>
          </a:xfrm>
          <a:prstGeom prst="roundRect">
            <a:avLst>
              <a:gd name="adj" fmla="val 5109"/>
            </a:avLst>
          </a:prstGeom>
        </p:spPr>
      </p:pic>
      <p:sp>
        <p:nvSpPr>
          <p:cNvPr id="7" name="Shape 3"/>
          <p:cNvSpPr/>
          <p:nvPr/>
        </p:nvSpPr>
        <p:spPr>
          <a:xfrm>
            <a:off x="7854950" y="1890911"/>
            <a:ext cx="3517900" cy="1752600"/>
          </a:xfrm>
          <a:prstGeom prst="roundRect">
            <a:avLst>
              <a:gd name="adj" fmla="val 5435"/>
            </a:avLst>
          </a:prstGeom>
          <a:noFill/>
          <a:ln w="12700">
            <a:solidFill>
              <a:srgbClr val="E3E8E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848600" y="3751461"/>
            <a:ext cx="36365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Burndown del Sprint 3: de 36 h a 11 h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12800" y="4666159"/>
            <a:ext cx="10566400" cy="511770"/>
          </a:xfrm>
          <a:prstGeom prst="roundRect">
            <a:avLst>
              <a:gd name="adj" fmla="val 14890"/>
            </a:avLst>
          </a:prstGeom>
          <a:solidFill>
            <a:srgbClr val="E7F5F4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0B646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Siguiente:</a:t>
            </a:r>
            <a:r>
              <a:rPr lang="en-US" sz="1400" dirty="0">
                <a:solidFill>
                  <a:srgbClr val="1F2A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grabar señas con el equipo, señas con movimiento, URL pública y pruebas con usuarios.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SignIA · Capstone APT122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64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7794" y="2026940"/>
            <a:ext cx="1776413" cy="487660"/>
          </a:xfrm>
          <a:prstGeom prst="roundRect">
            <a:avLst>
              <a:gd name="adj" fmla="val 50000"/>
            </a:avLst>
          </a:prstGeom>
          <a:solidFill>
            <a:srgbClr val="C2522B"/>
          </a:soli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36394" y="2194520"/>
            <a:ext cx="152400" cy="152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794" y="2128540"/>
            <a:ext cx="124777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FBFCF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 VIVO</a:t>
            </a:r>
            <a:endParaRPr lang="en-US" sz="16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405775" y="2819400"/>
            <a:ext cx="11380351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b="1" i="0" dirty="0">
                <a:solidFill>
                  <a:srgbClr val="FBFCF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Presentación en vivo</a:t>
            </a:r>
            <a:endParaRPr lang="en-US" sz="7500" dirty="0"/>
          </a:p>
        </p:txBody>
      </p:sp>
      <p:sp>
        <p:nvSpPr>
          <p:cNvPr id="6" name="Text 3"/>
          <p:cNvSpPr/>
          <p:nvPr/>
        </p:nvSpPr>
        <p:spPr>
          <a:xfrm>
            <a:off x="1517650" y="4076700"/>
            <a:ext cx="9156700" cy="7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E7F5F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Iniciar sesión, hacer señas frente a la cámara, escuchar la frase y entrenar desde el panel.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nIA · Presentación Fase 2">
  <a:themeElements>
    <a:clrScheme name="SignIA · Presentación Fase 2">
      <a:dk1>
        <a:srgbClr val="1F2A37"/>
      </a:dk1>
      <a:lt1>
        <a:srgbClr val="FBFCFC"/>
      </a:lt1>
      <a:dk2>
        <a:srgbClr val="565F68"/>
      </a:dk2>
      <a:lt2>
        <a:srgbClr val="E5E7E8"/>
      </a:lt2>
      <a:accent1>
        <a:srgbClr val="0B6463"/>
      </a:accent1>
      <a:accent2>
        <a:srgbClr val="0E7C7B"/>
      </a:accent2>
      <a:accent3>
        <a:srgbClr val="C2522B"/>
      </a:accent3>
      <a:accent4>
        <a:srgbClr val="9FD8D5"/>
      </a:accent4>
      <a:accent5>
        <a:srgbClr val="A3431F"/>
      </a:accent5>
      <a:accent6>
        <a:srgbClr val="5B6472"/>
      </a:accent6>
      <a:hlink>
        <a:srgbClr val="0563C1"/>
      </a:hlink>
      <a:folHlink>
        <a:srgbClr val="954F72"/>
      </a:folHlink>
    </a:clrScheme>
    <a:fontScheme name="SignIA · Presentación Fase 2">
      <a:majorFont>
        <a:latin typeface="Nun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SignIA · Presentación Fase 2</dc:title>
  <dc:subject/>
  <dc:creator/>
  <cp:lastModifiedBy/>
  <cp:revision>1</cp:revision>
  <dcterms:created xsi:type="dcterms:W3CDTF">2026-10-14T23:41:23Z</dcterms:created>
  <dcterms:modified xsi:type="dcterms:W3CDTF">2026-10-14T23:41:23Z</dcterms:modified>
</cp:coreProperties>
</file>